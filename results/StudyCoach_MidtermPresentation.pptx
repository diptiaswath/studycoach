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ptos"/>
      </a:defRPr>
    </a:lvl1pPr>
    <a:lvl2pPr indent="228600" latinLnBrk="0">
      <a:defRPr sz="1200">
        <a:latin typeface="+mj-lt"/>
        <a:ea typeface="+mj-ea"/>
        <a:cs typeface="+mj-cs"/>
        <a:sym typeface="Aptos"/>
      </a:defRPr>
    </a:lvl2pPr>
    <a:lvl3pPr indent="457200" latinLnBrk="0">
      <a:defRPr sz="1200">
        <a:latin typeface="+mj-lt"/>
        <a:ea typeface="+mj-ea"/>
        <a:cs typeface="+mj-cs"/>
        <a:sym typeface="Aptos"/>
      </a:defRPr>
    </a:lvl3pPr>
    <a:lvl4pPr indent="685800" latinLnBrk="0">
      <a:defRPr sz="1200">
        <a:latin typeface="+mj-lt"/>
        <a:ea typeface="+mj-ea"/>
        <a:cs typeface="+mj-cs"/>
        <a:sym typeface="Aptos"/>
      </a:defRPr>
    </a:lvl4pPr>
    <a:lvl5pPr indent="914400" latinLnBrk="0">
      <a:defRPr sz="1200">
        <a:latin typeface="+mj-lt"/>
        <a:ea typeface="+mj-ea"/>
        <a:cs typeface="+mj-cs"/>
        <a:sym typeface="Aptos"/>
      </a:defRPr>
    </a:lvl5pPr>
    <a:lvl6pPr indent="1143000" latinLnBrk="0">
      <a:defRPr sz="1200">
        <a:latin typeface="+mj-lt"/>
        <a:ea typeface="+mj-ea"/>
        <a:cs typeface="+mj-cs"/>
        <a:sym typeface="Aptos"/>
      </a:defRPr>
    </a:lvl6pPr>
    <a:lvl7pPr indent="1371600" latinLnBrk="0">
      <a:defRPr sz="1200">
        <a:latin typeface="+mj-lt"/>
        <a:ea typeface="+mj-ea"/>
        <a:cs typeface="+mj-cs"/>
        <a:sym typeface="Aptos"/>
      </a:defRPr>
    </a:lvl7pPr>
    <a:lvl8pPr indent="1600200" latinLnBrk="0">
      <a:defRPr sz="1200">
        <a:latin typeface="+mj-lt"/>
        <a:ea typeface="+mj-ea"/>
        <a:cs typeface="+mj-cs"/>
        <a:sym typeface="Aptos"/>
      </a:defRPr>
    </a:lvl8pPr>
    <a:lvl9pPr indent="1828800" latinLnBrk="0">
      <a:defRPr sz="1200">
        <a:latin typeface="+mj-lt"/>
        <a:ea typeface="+mj-ea"/>
        <a:cs typeface="+mj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502919" y="1108960"/>
            <a:ext cx="8138161" cy="708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4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Study Coach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502919" y="1824064"/>
            <a:ext cx="8138161" cy="375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0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Can AI Coach Students on Scientific Figure Interpretation?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572661" y="237018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Multimodal Incongruence Detection for Educational Feedback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502919" y="3305251"/>
            <a:ext cx="8138161" cy="898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Khubi Shah   </a:t>
            </a:r>
          </a:p>
          <a:p>
            <a:pPr>
              <a:defRPr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Buddhika Kahawitage  </a:t>
            </a:r>
          </a:p>
          <a:p>
            <a:pPr>
              <a:defRPr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Jiashan Cui   </a:t>
            </a:r>
          </a:p>
          <a:p>
            <a:pPr>
              <a:defRPr sz="14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Dipti Aswath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Problem Definition</a:t>
            </a:r>
          </a:p>
        </p:txBody>
      </p:sp>
      <p:sp>
        <p:nvSpPr>
          <p:cNvPr id="26" name="Text 1"/>
          <p:cNvSpPr txBox="1"/>
          <p:nvPr/>
        </p:nvSpPr>
        <p:spPr>
          <a:xfrm>
            <a:off x="502919" y="921949"/>
            <a:ext cx="813816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Task: Incongruence Detection</a:t>
            </a:r>
          </a:p>
        </p:txBody>
      </p:sp>
      <p:sp>
        <p:nvSpPr>
          <p:cNvPr id="27" name="Text 2"/>
          <p:cNvSpPr txBox="1"/>
          <p:nvPr/>
        </p:nvSpPr>
        <p:spPr>
          <a:xfrm>
            <a:off x="502919" y="131862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Detect mismatches between student explanations and scientific figures</a:t>
            </a:r>
          </a:p>
        </p:txBody>
      </p:sp>
      <p:graphicFrame>
        <p:nvGraphicFramePr>
          <p:cNvPr id="28" name="Table 0"/>
          <p:cNvGraphicFramePr/>
          <p:nvPr/>
        </p:nvGraphicFramePr>
        <p:xfrm>
          <a:off x="457200" y="1737360"/>
          <a:ext cx="8229600" cy="1371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57200"/>
                <a:gridCol w="4114800"/>
                <a:gridCol w="365760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Capability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Example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Detect mismatch — Correct / Partially Correct / Incorrect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"Is this explanation right?"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Categorize error type — Factual / Conceptual / Omission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"What kind of mistake?"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Provide coaching feedback — localize and explain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"Here's what you missed..."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Text 3"/>
          <p:cNvSpPr txBox="1"/>
          <p:nvPr/>
        </p:nvSpPr>
        <p:spPr>
          <a:xfrm>
            <a:off x="502919" y="3318023"/>
            <a:ext cx="8138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 Fundamentally Multimodal?</a:t>
            </a:r>
          </a:p>
        </p:txBody>
      </p:sp>
      <p:sp>
        <p:nvSpPr>
          <p:cNvPr id="30" name="Text 4"/>
          <p:cNvSpPr txBox="1"/>
          <p:nvPr/>
        </p:nvSpPr>
        <p:spPr>
          <a:xfrm>
            <a:off x="502919" y="3820113"/>
            <a:ext cx="8138161" cy="797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Visual grounding essential: </a:t>
            </a:r>
            <a:r>
              <a:rPr b="0"/>
              <a:t>To verify "BERT achieves 89%" model must read actual bar height (84.6%) from figure</a:t>
            </a:r>
          </a:p>
          <a:p>
            <a: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Cross-modal reasoning required: </a:t>
            </a:r>
            <a:r>
              <a:rPr b="0"/>
              <a:t>Map textual interpretations onto visual patterns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Hypotheses</a:t>
            </a:r>
          </a:p>
        </p:txBody>
      </p:sp>
      <p:sp>
        <p:nvSpPr>
          <p:cNvPr id="33" name="Text 1"/>
          <p:cNvSpPr txBox="1"/>
          <p:nvPr/>
        </p:nvSpPr>
        <p:spPr>
          <a:xfrm>
            <a:off x="502919" y="940583"/>
            <a:ext cx="8138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Tested with 8B Baseline:</a:t>
            </a:r>
          </a:p>
        </p:txBody>
      </p:sp>
      <p:sp>
        <p:nvSpPr>
          <p:cNvPr id="34" name="Text 2"/>
          <p:cNvSpPr txBox="1"/>
          <p:nvPr/>
        </p:nvSpPr>
        <p:spPr>
          <a:xfrm>
            <a:off x="502919" y="1379588"/>
            <a:ext cx="8138161" cy="8984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H1 (Multimodal Advantage): </a:t>
            </a:r>
            <a:r>
              <a:rPr b="0"/>
              <a:t>Visual input improves performance over text-only</a:t>
            </a:r>
          </a:p>
          <a:p>
            <a:pPr>
              <a:defRPr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H2 (Metric Alignment): </a:t>
            </a:r>
            <a:r>
              <a:rPr b="0"/>
              <a:t>Verdict accuracy and feedback quality will be correlated</a:t>
            </a:r>
          </a:p>
        </p:txBody>
      </p:sp>
      <p:sp>
        <p:nvSpPr>
          <p:cNvPr id="35" name="Text 3"/>
          <p:cNvSpPr txBox="1"/>
          <p:nvPr/>
        </p:nvSpPr>
        <p:spPr>
          <a:xfrm>
            <a:off x="502919" y="2586503"/>
            <a:ext cx="8138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 Evaluate with Competitive Baseline (72B+):</a:t>
            </a:r>
          </a:p>
        </p:txBody>
      </p:sp>
      <p:graphicFrame>
        <p:nvGraphicFramePr>
          <p:cNvPr id="36" name="Table 0"/>
          <p:cNvGraphicFramePr/>
          <p:nvPr/>
        </p:nvGraphicFramePr>
        <p:xfrm>
          <a:off x="457200" y="2926079"/>
          <a:ext cx="8229600" cy="109728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48640"/>
                <a:gridCol w="493776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Hypothesis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H3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Factual errors detected more reliably than conceptual; context helps latter more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Filter to Factual errors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H4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Tables easiest (structured), diagrams hardest (spatial reasoning)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Analyze by figure type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Methodology</a:t>
            </a:r>
          </a:p>
        </p:txBody>
      </p:sp>
      <p:sp>
        <p:nvSpPr>
          <p:cNvPr id="39" name="Text 1"/>
          <p:cNvSpPr txBox="1"/>
          <p:nvPr/>
        </p:nvSpPr>
        <p:spPr>
          <a:xfrm>
            <a:off x="502919" y="851511"/>
            <a:ext cx="8138161" cy="313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Dataset Construction Pipeline:</a:t>
            </a:r>
          </a:p>
        </p:txBody>
      </p:sp>
      <p:sp>
        <p:nvSpPr>
          <p:cNvPr id="40" name="Text 2"/>
          <p:cNvSpPr txBox="1"/>
          <p:nvPr/>
        </p:nvSpPr>
        <p:spPr>
          <a:xfrm>
            <a:off x="4259757" y="488680"/>
            <a:ext cx="26517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1: Prepare</a:t>
            </a:r>
          </a:p>
        </p:txBody>
      </p:sp>
      <p:sp>
        <p:nvSpPr>
          <p:cNvPr id="41" name="Text 3"/>
          <p:cNvSpPr txBox="1"/>
          <p:nvPr/>
        </p:nvSpPr>
        <p:spPr>
          <a:xfrm>
            <a:off x="4259757" y="897413"/>
            <a:ext cx="2651761" cy="5440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SPIQA Test-A (666 QA pairs)</a:t>
            </a:r>
          </a:p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Filter figure-grounded QAs</a:t>
            </a:r>
          </a:p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Annotate figure types</a:t>
            </a:r>
          </a:p>
        </p:txBody>
      </p:sp>
      <p:sp>
        <p:nvSpPr>
          <p:cNvPr id="42" name="Text 4"/>
          <p:cNvSpPr txBox="1"/>
          <p:nvPr/>
        </p:nvSpPr>
        <p:spPr>
          <a:xfrm>
            <a:off x="4259757" y="1852015"/>
            <a:ext cx="26517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2: Generate</a:t>
            </a:r>
          </a:p>
        </p:txBody>
      </p:sp>
      <p:sp>
        <p:nvSpPr>
          <p:cNvPr id="43" name="Text 5"/>
          <p:cNvSpPr txBox="1"/>
          <p:nvPr/>
        </p:nvSpPr>
        <p:spPr>
          <a:xfrm>
            <a:off x="4259757" y="2260748"/>
            <a:ext cx="2651761" cy="5440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Hand-curate 18 ICL exemplars</a:t>
            </a:r>
          </a:p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GPT-5.1 synthetic generation</a:t>
            </a:r>
          </a:p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Correct/Partial/Incorrect</a:t>
            </a:r>
          </a:p>
        </p:txBody>
      </p:sp>
      <p:sp>
        <p:nvSpPr>
          <p:cNvPr id="44" name="Text 6"/>
          <p:cNvSpPr txBox="1"/>
          <p:nvPr/>
        </p:nvSpPr>
        <p:spPr>
          <a:xfrm>
            <a:off x="4259757" y="3120941"/>
            <a:ext cx="26517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3: Validate</a:t>
            </a:r>
          </a:p>
        </p:txBody>
      </p:sp>
      <p:sp>
        <p:nvSpPr>
          <p:cNvPr id="45" name="Text 7"/>
          <p:cNvSpPr txBox="1"/>
          <p:nvPr/>
        </p:nvSpPr>
        <p:spPr>
          <a:xfrm>
            <a:off x="4259757" y="3529673"/>
            <a:ext cx="2651761" cy="544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Human spot-check (~20)</a:t>
            </a:r>
          </a:p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Analyze error distribution</a:t>
            </a:r>
          </a:p>
          <a:p>
            <a:pPr>
              <a:defRPr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Quality gate ≥90%</a:t>
            </a:r>
          </a:p>
        </p:txBody>
      </p:sp>
      <p:sp>
        <p:nvSpPr>
          <p:cNvPr id="46" name="Text 8"/>
          <p:cNvSpPr txBox="1"/>
          <p:nvPr/>
        </p:nvSpPr>
        <p:spPr>
          <a:xfrm>
            <a:off x="3607627" y="4389866"/>
            <a:ext cx="8138160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2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→ SPIQA+ (174 generated examples)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Baseline Description</a:t>
            </a:r>
          </a:p>
        </p:txBody>
      </p:sp>
      <p:graphicFrame>
        <p:nvGraphicFramePr>
          <p:cNvPr id="49" name="Table 0"/>
          <p:cNvGraphicFramePr/>
          <p:nvPr/>
        </p:nvGraphicFramePr>
        <p:xfrm>
          <a:off x="457200" y="914400"/>
          <a:ext cx="8229600" cy="146304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828800"/>
                <a:gridCol w="640080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Parameter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Value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Model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Qwen3-VL-8B-Instruct (Together.ai)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Dataset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SPIQA+ (174 augmented QA pairs from Test-A)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Eval sample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50 examples (stratified by verdict × error type)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Condition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No-answer (reference answer withheld)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Text 1"/>
          <p:cNvSpPr txBox="1"/>
          <p:nvPr/>
        </p:nvSpPr>
        <p:spPr>
          <a:xfrm>
            <a:off x="502919" y="259878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 No-Answer Condition?</a:t>
            </a:r>
          </a:p>
        </p:txBody>
      </p:sp>
      <p:sp>
        <p:nvSpPr>
          <p:cNvPr id="51" name="Text 2"/>
          <p:cNvSpPr txBox="1"/>
          <p:nvPr/>
        </p:nvSpPr>
        <p:spPr>
          <a:xfrm>
            <a:off x="502919" y="2979372"/>
            <a:ext cx="8138161" cy="4420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Including reference answers reduced modality differences and lowered alignment with human judgment — the task shifted from reasoning to textual similarity. No-answer better reflects realistic coaching.</a:t>
            </a:r>
          </a:p>
        </p:txBody>
      </p:sp>
      <p:sp>
        <p:nvSpPr>
          <p:cNvPr id="52" name="Text 3"/>
          <p:cNvSpPr txBox="1"/>
          <p:nvPr/>
        </p:nvSpPr>
        <p:spPr>
          <a:xfrm>
            <a:off x="502919" y="351318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 Scenarios Tested:</a:t>
            </a:r>
          </a:p>
        </p:txBody>
      </p:sp>
      <p:graphicFrame>
        <p:nvGraphicFramePr>
          <p:cNvPr id="53" name="Table 1"/>
          <p:cNvGraphicFramePr/>
          <p:nvPr/>
        </p:nvGraphicFramePr>
        <p:xfrm>
          <a:off x="534691" y="3798635"/>
          <a:ext cx="4486760" cy="118097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794704"/>
                <a:gridCol w="1346028"/>
                <a:gridCol w="1346028"/>
              </a:tblGrid>
              <a:tr h="236193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Scenario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Caption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Image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36193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text_only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36193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caption_only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✓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36193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vision_only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✓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36193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multimodal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✓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✓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" name="Phase 1: Verdict Accuracy (n=50 per scenario)…"/>
          <p:cNvSpPr txBox="1"/>
          <p:nvPr/>
        </p:nvSpPr>
        <p:spPr>
          <a:xfrm>
            <a:off x="5589308" y="3890574"/>
            <a:ext cx="3268004" cy="61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Phase 1: </a:t>
            </a:r>
            <a:r>
              <a:rPr b="0"/>
              <a:t>Verdict Accuracy (n=50 per scenario)</a:t>
            </a:r>
          </a:p>
          <a:p>
            <a:pPr>
              <a:defRPr b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Phase 2: </a:t>
            </a:r>
            <a:r>
              <a:rPr b="0"/>
              <a:t>Auto Metrics → Human Annotation </a:t>
            </a:r>
            <a:br>
              <a:rPr b="0"/>
            </a:br>
            <a:r>
              <a:rPr b="0"/>
              <a:t>               (n=10 per scenario)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Baseline Results Summary</a:t>
            </a:r>
          </a:p>
        </p:txBody>
      </p:sp>
      <p:sp>
        <p:nvSpPr>
          <p:cNvPr id="57" name="Text 1"/>
          <p:cNvSpPr txBox="1"/>
          <p:nvPr/>
        </p:nvSpPr>
        <p:spPr>
          <a:xfrm>
            <a:off x="502919" y="952868"/>
            <a:ext cx="40233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1: Verdict Accuracy (Automated)</a:t>
            </a:r>
          </a:p>
        </p:txBody>
      </p:sp>
      <p:graphicFrame>
        <p:nvGraphicFramePr>
          <p:cNvPr id="58" name="Table 0"/>
          <p:cNvGraphicFramePr/>
          <p:nvPr/>
        </p:nvGraphicFramePr>
        <p:xfrm>
          <a:off x="457200" y="1280160"/>
          <a:ext cx="3657600" cy="1371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860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Scenario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Accuracy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text_only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2E7D3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vision_only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50%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caption_only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48%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multimodal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48%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9" name="Text 2"/>
          <p:cNvSpPr txBox="1"/>
          <p:nvPr/>
        </p:nvSpPr>
        <p:spPr>
          <a:xfrm>
            <a:off x="4800600" y="952868"/>
            <a:ext cx="4023360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2: Feedback Quality (Human, n=10)</a:t>
            </a:r>
          </a:p>
        </p:txBody>
      </p:sp>
      <p:graphicFrame>
        <p:nvGraphicFramePr>
          <p:cNvPr id="60" name="Table 1"/>
          <p:cNvGraphicFramePr/>
          <p:nvPr/>
        </p:nvGraphicFramePr>
        <p:xfrm>
          <a:off x="4754879" y="1280160"/>
          <a:ext cx="3931921" cy="1371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645920"/>
                <a:gridCol w="1143000"/>
                <a:gridCol w="11430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Scenario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Match 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Soft 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multimodal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2E7D3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vision_only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60%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80%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caption_only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50%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90%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text_only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40%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90%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1" name="Text 3"/>
          <p:cNvSpPr txBox="1"/>
          <p:nvPr/>
        </p:nvSpPr>
        <p:spPr>
          <a:xfrm>
            <a:off x="4800600" y="2675427"/>
            <a:ext cx="3840480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0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Soft Match = Match + Partial (feedback at least partially useful)</a:t>
            </a:r>
          </a:p>
        </p:txBody>
      </p:sp>
      <p:sp>
        <p:nvSpPr>
          <p:cNvPr id="62" name="Text 4"/>
          <p:cNvSpPr txBox="1"/>
          <p:nvPr/>
        </p:nvSpPr>
        <p:spPr>
          <a:xfrm>
            <a:off x="502919" y="314742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Key Observation:</a:t>
            </a:r>
          </a:p>
        </p:txBody>
      </p:sp>
      <p:graphicFrame>
        <p:nvGraphicFramePr>
          <p:cNvPr id="63" name="Table 2"/>
          <p:cNvGraphicFramePr/>
          <p:nvPr/>
        </p:nvGraphicFramePr>
        <p:xfrm>
          <a:off x="457200" y="3474720"/>
          <a:ext cx="8229600" cy="8229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Winner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Loser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Verdict Accuracy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2E7D3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text_only (56%)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multimodal (48%)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Feedback Quality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2E7D3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multimodal (80%)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text_only (40%)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4" name="Text 5"/>
          <p:cNvSpPr txBox="1"/>
          <p:nvPr/>
        </p:nvSpPr>
        <p:spPr>
          <a:xfrm>
            <a:off x="502919" y="4498084"/>
            <a:ext cx="8138161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Auto metrics (F1 ~0.30 across all scenarios) missed the 2x difference in feedback quality.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Surprising Finding</a:t>
            </a:r>
          </a:p>
        </p:txBody>
      </p:sp>
      <p:sp>
        <p:nvSpPr>
          <p:cNvPr id="67" name="Text 1"/>
          <p:cNvSpPr txBox="1"/>
          <p:nvPr/>
        </p:nvSpPr>
        <p:spPr>
          <a:xfrm>
            <a:off x="502919" y="955384"/>
            <a:ext cx="8138161" cy="375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2000">
                <a:solidFill>
                  <a:srgbClr val="C6282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Both hypotheses were WRONG.</a:t>
            </a:r>
          </a:p>
        </p:txBody>
      </p:sp>
      <p:sp>
        <p:nvSpPr>
          <p:cNvPr id="68" name="Text 2"/>
          <p:cNvSpPr txBox="1"/>
          <p:nvPr/>
        </p:nvSpPr>
        <p:spPr>
          <a:xfrm>
            <a:off x="502919" y="1489223"/>
            <a:ext cx="8138161" cy="3133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Surprise: Adding images HURTS classification but HELPS explanation.</a:t>
            </a:r>
          </a:p>
        </p:txBody>
      </p:sp>
      <p:sp>
        <p:nvSpPr>
          <p:cNvPr id="69" name="Shape 3"/>
          <p:cNvSpPr/>
          <p:nvPr/>
        </p:nvSpPr>
        <p:spPr>
          <a:xfrm>
            <a:off x="457200" y="2011679"/>
            <a:ext cx="8229600" cy="640081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Text 4"/>
          <p:cNvSpPr txBox="1"/>
          <p:nvPr/>
        </p:nvSpPr>
        <p:spPr>
          <a:xfrm>
            <a:off x="685799" y="2187308"/>
            <a:ext cx="777240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"The model classifies better without images but explains better with them."</a:t>
            </a:r>
          </a:p>
        </p:txBody>
      </p:sp>
      <p:sp>
        <p:nvSpPr>
          <p:cNvPr id="71" name="Text 5"/>
          <p:cNvSpPr txBox="1"/>
          <p:nvPr/>
        </p:nvSpPr>
        <p:spPr>
          <a:xfrm>
            <a:off x="502919" y="287310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 text-only "wins" (but for the wrong reasons):</a:t>
            </a:r>
          </a:p>
        </p:txBody>
      </p:sp>
      <p:sp>
        <p:nvSpPr>
          <p:cNvPr id="72" name="Text 6"/>
          <p:cNvSpPr txBox="1"/>
          <p:nvPr/>
        </p:nvSpPr>
        <p:spPr>
          <a:xfrm>
            <a:off x="502919" y="3441652"/>
            <a:ext cx="8138161" cy="797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Text-only has no figure, no caption — just question + student answer</a:t>
            </a:r>
          </a:p>
          <a:p>
            <a: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Model does plausibility checking based on pre-trained knowledge</a:t>
            </a:r>
          </a:p>
          <a:p>
            <a: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It can't confirm "BERT achieves 84.6%" — it just judges if the claim sounds reasonable</a:t>
            </a:r>
          </a:p>
          <a:p>
            <a:pPr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• Multimodal classifies worse but explains better because it actually uses the figure</a:t>
            </a:r>
          </a:p>
        </p:txBody>
      </p:sp>
      <p:sp>
        <p:nvSpPr>
          <p:cNvPr id="73" name="Text 7"/>
          <p:cNvSpPr txBox="1"/>
          <p:nvPr/>
        </p:nvSpPr>
        <p:spPr>
          <a:xfrm>
            <a:off x="502919" y="4589524"/>
            <a:ext cx="8138161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Bonus: Auto metrics completely missed the 2x difference that human evaluation revealed.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Where Baseline Might Fail</a:t>
            </a:r>
          </a:p>
        </p:txBody>
      </p:sp>
      <p:graphicFrame>
        <p:nvGraphicFramePr>
          <p:cNvPr id="76" name="Table 0"/>
          <p:cNvGraphicFramePr/>
          <p:nvPr/>
        </p:nvGraphicFramePr>
        <p:xfrm>
          <a:off x="457200" y="914400"/>
          <a:ext cx="8229600" cy="182880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43200"/>
                <a:gridCol w="5486400"/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Failure Mode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Evidence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Model scale too small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8B can't reliably ground visual details for classification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Partially Correct is hard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Model collapses "Partially Correct" into "Incorrect"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Vision adds noise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input distracts classifier while helping explainer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Sample size limits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n=50 means &lt;5pp differences are noise; n=10 means each example = 10pp shift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Dataset composition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Only 48% factual errors — fewer cases where vision is essential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Text 1"/>
          <p:cNvSpPr txBox="1"/>
          <p:nvPr/>
        </p:nvSpPr>
        <p:spPr>
          <a:xfrm>
            <a:off x="502919" y="296454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Error types and visual grounding:</a:t>
            </a:r>
          </a:p>
        </p:txBody>
      </p:sp>
      <p:graphicFrame>
        <p:nvGraphicFramePr>
          <p:cNvPr id="78" name="Table 1"/>
          <p:cNvGraphicFramePr/>
          <p:nvPr/>
        </p:nvGraphicFramePr>
        <p:xfrm>
          <a:off x="457200" y="3291840"/>
          <a:ext cx="8229600" cy="109728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828800"/>
                <a:gridCol w="411480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Error Type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Example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Grounding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Factual (48%)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"BERT achieves 89%" but figure shows 84.6%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High — must see figure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Conceptual (38%)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"loss decreases throughout" but it plateaus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Medium — must see pattern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Omission (14%)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Mentions one result, figure shows four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Low — detectable from text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9" name="Text 2"/>
          <p:cNvSpPr txBox="1"/>
          <p:nvPr/>
        </p:nvSpPr>
        <p:spPr>
          <a:xfrm>
            <a:off x="502919" y="4577032"/>
            <a:ext cx="81381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Implication: The 8pp gap favoring text-only might shrink if tested on factual errors only.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Pressing Question</a:t>
            </a:r>
          </a:p>
        </p:txBody>
      </p:sp>
      <p:sp>
        <p:nvSpPr>
          <p:cNvPr id="82" name="Text 1"/>
          <p:cNvSpPr txBox="1"/>
          <p:nvPr/>
        </p:nvSpPr>
        <p:spPr>
          <a:xfrm>
            <a:off x="502919" y="880039"/>
            <a:ext cx="8138161" cy="61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 what model scale does visual input start helping classification — not just explanation?</a:t>
            </a:r>
          </a:p>
        </p:txBody>
      </p:sp>
      <p:graphicFrame>
        <p:nvGraphicFramePr>
          <p:cNvPr id="83" name="Table 0"/>
          <p:cNvGraphicFramePr/>
          <p:nvPr/>
        </p:nvGraphicFramePr>
        <p:xfrm>
          <a:off x="457200" y="1645920"/>
          <a:ext cx="8229600" cy="14630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371600"/>
                <a:gridCol w="685800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Priority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Next Experiment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High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Test 72B+ model (Qwen2.5-VL-72B or GPT-4o)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High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Filter to factual errors (where visual grounding matters most)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Medium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Chain-of-thought: Force model to describe figure before judging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Medium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Larger eval sample (200+) to detect smaller differences reliably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999999"/>
                      </a:solidFill>
                    </a:lnL>
                    <a:lnR w="6350">
                      <a:solidFill>
                        <a:srgbClr val="999999"/>
                      </a:solidFill>
                    </a:lnR>
                    <a:lnT w="6350">
                      <a:solidFill>
                        <a:srgbClr val="999999"/>
                      </a:solidFill>
                    </a:lnT>
                    <a:lnB w="6350">
                      <a:solidFill>
                        <a:srgbClr val="99999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4" name="Text 2"/>
          <p:cNvSpPr txBox="1"/>
          <p:nvPr/>
        </p:nvSpPr>
        <p:spPr>
          <a:xfrm>
            <a:off x="502919" y="3330308"/>
            <a:ext cx="813816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E509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likely case: A stronger model will show visual input helps BOTH metrics.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 txBox="1"/>
          <p:nvPr/>
        </p:nvSpPr>
        <p:spPr>
          <a:xfrm>
            <a:off x="502919" y="274617"/>
            <a:ext cx="8138161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Summary</a:t>
            </a:r>
          </a:p>
        </p:txBody>
      </p:sp>
      <p:sp>
        <p:nvSpPr>
          <p:cNvPr id="87" name="Text 1"/>
          <p:cNvSpPr txBox="1"/>
          <p:nvPr/>
        </p:nvSpPr>
        <p:spPr>
          <a:xfrm>
            <a:off x="502919" y="949295"/>
            <a:ext cx="8138161" cy="3006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1. Problem: </a:t>
            </a:r>
            <a:r>
              <a:rPr b="0"/>
              <a:t>Can AI evaluate + coach students on scientific figures?</a:t>
            </a:r>
            <a:endParaRPr b="0"/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2. Hypotheses: </a:t>
            </a:r>
            <a:r>
              <a:rPr b="0"/>
              <a:t>Visual input helps. Verdict accuracy = feedback quality.</a:t>
            </a:r>
            <a:endParaRPr b="0"/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3. Baseline: </a:t>
            </a:r>
            <a:r>
              <a:rPr b="0"/>
              <a:t>Qwen3-VL-8B, 4 scenarios, 50 examples</a:t>
            </a:r>
          </a:p>
          <a:p>
            <a:pPr>
              <a:defRPr sz="1400"/>
            </a:pPr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4. Surprising finding:</a:t>
            </a:r>
          </a:p>
          <a:p>
            <a:pPr>
              <a:defRPr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    • Text-only classifies best (56%)</a:t>
            </a:r>
          </a:p>
          <a:p>
            <a:pPr>
              <a:defRPr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    • Multimodal explains best (80%)</a:t>
            </a:r>
          </a:p>
          <a:p>
            <a:pPr>
              <a:defRPr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    • Verdict accuracy ≠ feedback quality</a:t>
            </a:r>
          </a:p>
          <a:p>
            <a:pPr>
              <a:defRPr sz="1400"/>
            </a:pPr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5. Baseline fails: </a:t>
            </a:r>
            <a:r>
              <a:rPr b="0"/>
              <a:t>8B scale too weak for visual classification</a:t>
            </a:r>
          </a:p>
          <a:p>
            <a:pPr>
              <a:defRPr sz="1400"/>
            </a:pPr>
          </a:p>
          <a:p>
            <a:pPr>
              <a:defRPr b="1" sz="14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6. Pressing question: </a:t>
            </a:r>
            <a:r>
              <a:rPr b="0"/>
              <a:t>Does scaling fix this?</a:t>
            </a:r>
          </a:p>
        </p:txBody>
      </p:sp>
      <p:sp>
        <p:nvSpPr>
          <p:cNvPr id="88" name="Shape 2"/>
          <p:cNvSpPr/>
          <p:nvPr/>
        </p:nvSpPr>
        <p:spPr>
          <a:xfrm>
            <a:off x="457200" y="4324025"/>
            <a:ext cx="8229600" cy="430855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3"/>
          <p:cNvSpPr txBox="1"/>
          <p:nvPr/>
        </p:nvSpPr>
        <p:spPr>
          <a:xfrm>
            <a:off x="685799" y="4439871"/>
            <a:ext cx="777240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2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"The model classifies better without images but explains better with them."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